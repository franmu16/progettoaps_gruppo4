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(ms)</c:v>
                </c:pt>
              </c:strCache>
            </c:strRef>
          </c:tx>
          <c:spPr>
            <a:solidFill>
              <a:srgbClr val="3D8BD9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/>
                      <a:t> 91 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B73-427A-951A-A5C9E640458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dirty="0"/>
                      <a:t>1 </a:t>
                    </a:r>
                    <a:r>
                      <a:rPr lang="en-US" sz="1200" dirty="0" err="1"/>
                      <a:t>ms</a:t>
                    </a:r>
                    <a:endParaRPr lang="en-US" sz="1200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B73-427A-951A-A5C9E640458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/>
                      <a:t>6</a:t>
                    </a:r>
                    <a:r>
                      <a:rPr lang="en-US" sz="1200" baseline="0"/>
                      <a:t> ms</a:t>
                    </a:r>
                    <a:endParaRPr lang="en-US" sz="120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B73-427A-951A-A5C9E640458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B8BA601-991E-4224-93DC-E730DED632D9}" type="VALUE">
                      <a:rPr lang="en-US" sz="1200" smtClean="0"/>
                      <a:pPr/>
                      <a:t>[VALORE]</a:t>
                    </a:fld>
                    <a:r>
                      <a:rPr lang="en-US" sz="1200" baseline="0" dirty="0"/>
                      <a:t> </a:t>
                    </a:r>
                    <a:r>
                      <a:rPr lang="en-US" sz="1200" dirty="0" err="1"/>
                      <a:t>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B73-427A-951A-A5C9E640458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7314A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genera chiavi</c:v>
                </c:pt>
                <c:pt idx="1">
                  <c:v>decifra OAEP</c:v>
                </c:pt>
                <c:pt idx="2">
                  <c:v>build Merkle</c:v>
                </c:pt>
                <c:pt idx="3">
                  <c:v>verify proof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1.24</c:v>
                </c:pt>
                <c:pt idx="2">
                  <c:v>5.81</c:v>
                </c:pt>
                <c:pt idx="3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57-4D88-BB59-1956BB9EB8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7ECF5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731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7EC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31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Dimensione (bytes)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075DCD5-21BF-487E-86EA-CD14DCD69322}" type="VALUE">
                      <a:rPr lang="en-US" sz="1200" smtClean="0"/>
                      <a:pPr/>
                      <a:t>[VALORE]</a:t>
                    </a:fld>
                    <a:r>
                      <a:rPr lang="en-US" sz="1200" baseline="0"/>
                      <a:t> 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025-4B69-A5B9-239488F2D5E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/>
                      <a:t> 522 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025-4B69-A5B9-239488F2D5E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45765AF-2824-4405-A59A-4552E16B42BD}" type="VALUE">
                      <a:rPr lang="en-US" sz="1200" smtClean="0"/>
                      <a:pPr/>
                      <a:t>[VALORE]</a:t>
                    </a:fld>
                    <a:r>
                      <a:rPr lang="en-US" sz="1200"/>
                      <a:t> 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025-4B69-A5B9-239488F2D5E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81643AD-7181-4CC6-9493-BD22D8B0AF87}" type="VALUE">
                      <a:rPr lang="en-US" sz="1200" smtClean="0"/>
                      <a:pPr/>
                      <a:t>[VALORE]</a:t>
                    </a:fld>
                    <a:r>
                      <a:rPr lang="en-US" sz="1200"/>
                      <a:t> 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025-4B69-A5B9-239488F2D5E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08754A0-0D23-449A-AFE0-32A4528BE3BE}" type="VALUE">
                      <a:rPr lang="en-US" sz="1200" smtClean="0"/>
                      <a:pPr/>
                      <a:t>[VALORE]</a:t>
                    </a:fld>
                    <a:r>
                      <a:rPr lang="en-US" sz="1200"/>
                      <a:t> 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025-4B69-A5B9-239488F2D5E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7314A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certificato
X.509</c:v>
                </c:pt>
                <c:pt idx="1">
                  <c:v>token
cifrato</c:v>
                </c:pt>
                <c:pt idx="2">
                  <c:v>scheda
cifrata</c:v>
                </c:pt>
                <c:pt idx="3">
                  <c:v>Kpriv_cifr
cifrata</c:v>
                </c:pt>
                <c:pt idx="4">
                  <c:v>verbale
completo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897</c:v>
                </c:pt>
                <c:pt idx="1">
                  <c:v>522</c:v>
                </c:pt>
                <c:pt idx="2">
                  <c:v>1042</c:v>
                </c:pt>
                <c:pt idx="3">
                  <c:v>2342</c:v>
                </c:pt>
                <c:pt idx="4">
                  <c:v>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D7-4DF0-B273-4209439EC6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7ECF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731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7EC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31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47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EAF2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2103120" y="4663440"/>
            <a:ext cx="4206240" cy="4206240"/>
          </a:xfrm>
          <a:prstGeom prst="ellipse">
            <a:avLst/>
          </a:prstGeom>
          <a:solidFill>
            <a:srgbClr val="FDEDE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0607040" y="5120640"/>
            <a:ext cx="2194560" cy="2194560"/>
          </a:xfrm>
          <a:prstGeom prst="ellipse">
            <a:avLst/>
          </a:prstGeom>
          <a:solidFill>
            <a:srgbClr val="FDF2E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 Sicuro per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Elezioni </a:t>
            </a:r>
            <a:r>
              <a:rPr lang="en-US" sz="36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Elettroniche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 voto elettronico sicuro, trasparente e verificabile per Fantasy Company, azienda multi-sede sul territorio nazionale.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6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e Protocolli per la Sicurezza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645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86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Salerno – a.a. 2025-2026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55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Francesco Musto · Annamaria Scermino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2103120"/>
            <a:ext cx="2834640" cy="2834640"/>
          </a:xfrm>
          <a:prstGeom prst="ellipse">
            <a:avLst/>
          </a:prstGeom>
          <a:solidFill>
            <a:srgbClr val="EAF2FC"/>
          </a:solidFill>
          <a:ln w="12700">
            <a:solidFill>
              <a:srgbClr val="E7ECF5"/>
            </a:solidFill>
            <a:prstDash val="solid"/>
          </a:ln>
          <a:effectLst>
            <a:outerShdw blurRad="101600" dist="38100" dir="2700000" algn="bl" rotWithShape="0">
              <a:srgbClr val="1B2A52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0" descr="icons/vote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718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922611"/>
            <a:ext cx="11064240" cy="692573"/>
          </a:xfrm>
          <a:prstGeom prst="roundRect">
            <a:avLst>
              <a:gd name="adj" fmla="val 10606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21792" y="1922611"/>
            <a:ext cx="73152" cy="692573"/>
          </a:xfrm>
          <a:prstGeom prst="rect">
            <a:avLst/>
          </a:prstGeom>
          <a:solidFill>
            <a:srgbClr val="3D8B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041001"/>
            <a:ext cx="3840480" cy="453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 — Modello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2041001"/>
            <a:ext cx="5852160" cy="453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Attori, requisiti, threat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2782147"/>
            <a:ext cx="11064240" cy="692573"/>
          </a:xfrm>
          <a:prstGeom prst="roundRect">
            <a:avLst>
              <a:gd name="adj" fmla="val 10606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621792" y="2782147"/>
            <a:ext cx="73152" cy="692573"/>
          </a:xfrm>
          <a:prstGeom prst="rect">
            <a:avLst/>
          </a:prstGeom>
          <a:solidFill>
            <a:srgbClr val="2BA89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22960" y="2825496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825496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 — Protocollo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825496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Crittografia e fasi del sistema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3641684"/>
            <a:ext cx="11064240" cy="692572"/>
          </a:xfrm>
          <a:prstGeom prst="roundRect">
            <a:avLst>
              <a:gd name="adj" fmla="val 10606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21792" y="3641684"/>
            <a:ext cx="73152" cy="692572"/>
          </a:xfrm>
          <a:prstGeom prst="rect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22960" y="3685032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685032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 — Sicurezza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68503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Garanzie e limiti dichiarati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" y="4501220"/>
            <a:ext cx="11064240" cy="692572"/>
          </a:xfrm>
          <a:prstGeom prst="roundRect">
            <a:avLst>
              <a:gd name="adj" fmla="val 10606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21792" y="4501220"/>
            <a:ext cx="73152" cy="692572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22960" y="4544568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54456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 — Implementazione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4544568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Prestazioni e attacchi simulati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" y="5360756"/>
            <a:ext cx="11064240" cy="692572"/>
          </a:xfrm>
          <a:prstGeom prst="roundRect">
            <a:avLst>
              <a:gd name="adj" fmla="val 10606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21792" y="5360756"/>
            <a:ext cx="73152" cy="692572"/>
          </a:xfrm>
          <a:prstGeom prst="rect">
            <a:avLst/>
          </a:prstGeom>
          <a:solidFill>
            <a:srgbClr val="F0A2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22960" y="5404104"/>
            <a:ext cx="731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5404104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5404104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Evoluzioni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 – MODELLO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e Tipologia di Votazione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3D8BD9"/>
          </a:solidFill>
          <a:ln/>
          <a:effectLst>
            <a:outerShdw blurRad="101600" dist="38100" dir="2700000" algn="bl" rotWithShape="0">
              <a:srgbClr val="1B2A52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riservato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esclusivamente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elettori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legittimi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Preferenza pseudoanonima e protetta da manomissioni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o annullamento prima della chiusura urne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autonoma dell'inclusione nel conteggio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First-Past-the-Post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preferenza tra candidati noti; vince chi ottiene la maggioranza relativa.
</a:t>
            </a:r>
            <a:r>
              <a:rPr lang="en-US" sz="1400" b="1" dirty="0">
                <a:solidFill>
                  <a:srgbClr val="286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Motivazione: </a:t>
            </a: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efficienza crittografica. Schede e scrutinio più semplici rispetto alla modalità con inserimento libero.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 – MODELLO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Attori del Sistema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Ruoli separati per garantire sicurezza e pseudoanonimato.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49808" y="1965960"/>
            <a:ext cx="457200" cy="457200"/>
          </a:xfrm>
          <a:prstGeom prst="ellipse">
            <a:avLst/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icons/userTie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75688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94767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Direttore [D]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587752"/>
            <a:ext cx="3209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 parametri e candidati; firma i dati per l'AE.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1" descr="icons/balance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075688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11496" y="194767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Autorità Elettorale [AE]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2587752"/>
            <a:ext cx="3209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 gli elettori e rilascia il token anonimo.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7830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8302752" y="1965960"/>
            <a:ext cx="457200" cy="457200"/>
          </a:xfrm>
          <a:prstGeom prst="ellipse">
            <a:avLst/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2" descr="icons/fingerprin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7568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87968" y="194767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Autenticazione [SA]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02752" y="2587752"/>
            <a:ext cx="3209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l'identità tramite FIDO2.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3924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749808" y="3575304"/>
            <a:ext cx="457200" cy="457200"/>
          </a:xfrm>
          <a:prstGeom prst="ellipse">
            <a:avLst/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3" descr="icons/userShield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685032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35024" y="355701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Elettore [E]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49808" y="4197096"/>
            <a:ext cx="3209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autentica, vota e verifica il proprio voto.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25112" y="33924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4526280" y="3575304"/>
            <a:ext cx="457200" cy="457200"/>
          </a:xfrm>
          <a:prstGeom prst="ellipse">
            <a:avLst/>
          </a:prstGeom>
          <a:solidFill>
            <a:srgbClr val="FDF2E3"/>
          </a:solidFill>
          <a:ln w="12700">
            <a:solidFill>
              <a:srgbClr val="F0A2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4" descr="icons/certificate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3685032"/>
            <a:ext cx="246888" cy="2468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11496" y="355701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Authority [CA]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26280" y="4197096"/>
            <a:ext cx="3209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 le chiavi pubbliche degli attori istituzionali.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01584" y="33924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5"/>
          <p:cNvSpPr/>
          <p:nvPr/>
        </p:nvSpPr>
        <p:spPr>
          <a:xfrm>
            <a:off x="8302752" y="3575304"/>
            <a:ext cx="457200" cy="457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5" descr="icons/server_sk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685032"/>
            <a:ext cx="246888" cy="2468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87968" y="355701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Urna Elettronica [UE]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302752" y="4197096"/>
            <a:ext cx="3209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le schede e pubblica il risultato.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4325112" y="500176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9"/>
          <p:cNvSpPr/>
          <p:nvPr/>
        </p:nvSpPr>
        <p:spPr>
          <a:xfrm>
            <a:off x="4526280" y="5184648"/>
            <a:ext cx="457200" cy="457200"/>
          </a:xfrm>
          <a:prstGeom prst="ellipse">
            <a:avLst/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6" descr="icons/glob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8" y="5294376"/>
            <a:ext cx="246888" cy="2468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11496" y="51663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Pubblico [RPE]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4526280" y="5806440"/>
            <a:ext cx="3209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il risultato e le prove di verificabilità.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 – THREAT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di Minaccia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icons/userSecret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848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Avversari Interni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883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Elettore disonesto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vota senza diritto o sotto coercizione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2841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disonesta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altera l'elettorato legittimo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96849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disonesta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altera il conteggio o viola la segretezza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60857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disonesto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traccia chi si autentica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24865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Collega/superiore coercitivo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osserva il voto dell'elettore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87452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icons/network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8483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Avversari Esterni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37960" y="25786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Osservatore passivo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analizza metadati di rete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37960" y="325526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intercetta o altera le schede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37960" y="39319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DoS/DDoS</a:t>
            </a:r>
            <a:r>
              <a:rPr lang="en-US" sz="13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satura il sistema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63640" y="47091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8604C"/>
          </a:solidFill>
          <a:ln/>
        </p:spPr>
        <p:txBody>
          <a:bodyPr/>
          <a:lstStyle/>
          <a:p>
            <a:endParaRPr lang="it-IT" dirty="0"/>
          </a:p>
        </p:txBody>
      </p:sp>
      <p:pic>
        <p:nvPicPr>
          <p:cNvPr id="20" name="Image 2" descr="icons/war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910328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49440" y="4910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Collusione AE + UE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92240" y="528523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Ricostruiscono identità ↔ token ↔ voto, violando lo pseudoanonimato.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 – GARANZIE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Garanzie di Sicurezza Richieste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49808" y="2148840"/>
            <a:ext cx="438912" cy="438912"/>
          </a:xfrm>
          <a:prstGeom prst="ellipse">
            <a:avLst/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24942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9748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Autenticità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081528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elettori autenticati votano.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526280" y="2148840"/>
            <a:ext cx="438912" cy="438912"/>
          </a:xfrm>
          <a:prstGeom prst="ellipse">
            <a:avLst/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icons/checkDoub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24942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69748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Unicità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26280" y="3081528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più una preferenza per elettore.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8302752" y="2148840"/>
            <a:ext cx="438912" cy="438912"/>
          </a:xfrm>
          <a:prstGeom prst="ellipse">
            <a:avLst/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icons/shield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24942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69748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Integrità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02752" y="3081528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 non alterabili.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913632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49808" y="4096512"/>
            <a:ext cx="438912" cy="438912"/>
          </a:xfrm>
          <a:prstGeom prst="ellipse">
            <a:avLst/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icons/lock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19709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6451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Pseudoanonimato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49808" y="502920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rischio solo con collusione AE+UE.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25112" y="3913632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4526280" y="4096512"/>
            <a:ext cx="438912" cy="438912"/>
          </a:xfrm>
          <a:prstGeom prst="ellipse">
            <a:avLst/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4" descr="icons/search_vio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419709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46451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Verificabilità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26280" y="502920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Individuale e universale.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01584" y="3913632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8302752" y="4096512"/>
            <a:ext cx="438912" cy="438912"/>
          </a:xfrm>
          <a:prstGeom prst="ellipse">
            <a:avLst/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5" descr="icons/eye_cor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419709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6451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Resistenza coercizione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02752" y="502920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sostituibile fino a T_close.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 – PROTOCOLLO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 Crittografiche Fondamentali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3749040"/>
          </a:xfrm>
          <a:prstGeom prst="roundRect">
            <a:avLst>
              <a:gd name="adj" fmla="val 347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103120" cy="64008"/>
          </a:xfrm>
          <a:prstGeom prst="rect">
            <a:avLst/>
          </a:prstGeom>
          <a:solidFill>
            <a:srgbClr val="3D8BD9"/>
          </a:solidFill>
          <a:ln/>
        </p:spPr>
        <p:txBody>
          <a:bodyPr/>
          <a:lstStyle/>
          <a:p>
            <a:endParaRPr lang="it-IT" u="sng"/>
          </a:p>
        </p:txBody>
      </p:sp>
      <p:sp>
        <p:nvSpPr>
          <p:cNvPr id="7" name="Shape 5"/>
          <p:cNvSpPr/>
          <p:nvPr/>
        </p:nvSpPr>
        <p:spPr>
          <a:xfrm>
            <a:off x="1307592" y="2377440"/>
            <a:ext cx="585216" cy="585216"/>
          </a:xfrm>
          <a:prstGeom prst="ellipse">
            <a:avLst/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pic>
        <p:nvPicPr>
          <p:cNvPr id="8" name="Image 0" descr="icons/key_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25146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</a:t>
            </a:r>
            <a:endParaRPr lang="en-US" sz="1400" u="sng" dirty="0"/>
          </a:p>
        </p:txBody>
      </p:sp>
      <p:sp>
        <p:nvSpPr>
          <p:cNvPr id="10" name="Text 7"/>
          <p:cNvSpPr/>
          <p:nvPr/>
        </p:nvSpPr>
        <p:spPr>
          <a:xfrm>
            <a:off x="685800" y="36576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u="sng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Cifratura asimmetrica. Chiavi a 2048 bit, ciphertext non deterministico.</a:t>
            </a:r>
            <a:endParaRPr lang="en-US" sz="1200" u="sng" dirty="0"/>
          </a:p>
        </p:txBody>
      </p:sp>
      <p:sp>
        <p:nvSpPr>
          <p:cNvPr id="11" name="Shape 8"/>
          <p:cNvSpPr/>
          <p:nvPr/>
        </p:nvSpPr>
        <p:spPr>
          <a:xfrm>
            <a:off x="2798064" y="2103120"/>
            <a:ext cx="2103120" cy="3749040"/>
          </a:xfrm>
          <a:prstGeom prst="roundRect">
            <a:avLst>
              <a:gd name="adj" fmla="val 347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sp>
        <p:nvSpPr>
          <p:cNvPr id="12" name="Shape 9"/>
          <p:cNvSpPr/>
          <p:nvPr/>
        </p:nvSpPr>
        <p:spPr>
          <a:xfrm>
            <a:off x="2798064" y="2103120"/>
            <a:ext cx="2103120" cy="64008"/>
          </a:xfrm>
          <a:prstGeom prst="rect">
            <a:avLst/>
          </a:prstGeom>
          <a:solidFill>
            <a:srgbClr val="2BA89B"/>
          </a:solidFill>
          <a:ln/>
        </p:spPr>
        <p:txBody>
          <a:bodyPr/>
          <a:lstStyle/>
          <a:p>
            <a:endParaRPr lang="it-IT" u="sng"/>
          </a:p>
        </p:txBody>
      </p:sp>
      <p:sp>
        <p:nvSpPr>
          <p:cNvPr id="13" name="Shape 10"/>
          <p:cNvSpPr/>
          <p:nvPr/>
        </p:nvSpPr>
        <p:spPr>
          <a:xfrm>
            <a:off x="3557016" y="2377440"/>
            <a:ext cx="585216" cy="585216"/>
          </a:xfrm>
          <a:prstGeom prst="ellipse">
            <a:avLst/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pic>
        <p:nvPicPr>
          <p:cNvPr id="14" name="Image 1" descr="icons/diagram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25146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9504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X.509</a:t>
            </a:r>
            <a:endParaRPr lang="en-US" sz="1400" u="sng" dirty="0"/>
          </a:p>
        </p:txBody>
      </p:sp>
      <p:sp>
        <p:nvSpPr>
          <p:cNvPr id="16" name="Text 12"/>
          <p:cNvSpPr/>
          <p:nvPr/>
        </p:nvSpPr>
        <p:spPr>
          <a:xfrm>
            <a:off x="2935224" y="36576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u="sng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aziendale che certifica le chiavi pubbliche degli attori.</a:t>
            </a:r>
            <a:endParaRPr lang="en-US" sz="1200" u="sng" dirty="0"/>
          </a:p>
        </p:txBody>
      </p:sp>
      <p:sp>
        <p:nvSpPr>
          <p:cNvPr id="17" name="Shape 13"/>
          <p:cNvSpPr/>
          <p:nvPr/>
        </p:nvSpPr>
        <p:spPr>
          <a:xfrm>
            <a:off x="5047488" y="2103120"/>
            <a:ext cx="2103120" cy="3749040"/>
          </a:xfrm>
          <a:prstGeom prst="roundRect">
            <a:avLst>
              <a:gd name="adj" fmla="val 347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sp>
        <p:nvSpPr>
          <p:cNvPr id="18" name="Shape 14"/>
          <p:cNvSpPr/>
          <p:nvPr/>
        </p:nvSpPr>
        <p:spPr>
          <a:xfrm>
            <a:off x="5047488" y="2103120"/>
            <a:ext cx="2103120" cy="64008"/>
          </a:xfrm>
          <a:prstGeom prst="rect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 u="sng"/>
          </a:p>
        </p:txBody>
      </p:sp>
      <p:sp>
        <p:nvSpPr>
          <p:cNvPr id="19" name="Shape 15"/>
          <p:cNvSpPr/>
          <p:nvPr/>
        </p:nvSpPr>
        <p:spPr>
          <a:xfrm>
            <a:off x="5806440" y="2377440"/>
            <a:ext cx="585216" cy="585216"/>
          </a:xfrm>
          <a:prstGeom prst="ellipse">
            <a:avLst/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pic>
        <p:nvPicPr>
          <p:cNvPr id="20" name="Image 2" descr="icons/shield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51460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RSA-PSS</a:t>
            </a:r>
            <a:endParaRPr lang="en-US" sz="1400" u="sng" dirty="0"/>
          </a:p>
        </p:txBody>
      </p:sp>
      <p:sp>
        <p:nvSpPr>
          <p:cNvPr id="22" name="Text 17"/>
          <p:cNvSpPr/>
          <p:nvPr/>
        </p:nvSpPr>
        <p:spPr>
          <a:xfrm>
            <a:off x="5184648" y="36576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u="sng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con salt casuale: autenticità, integrità, non ripudio.</a:t>
            </a:r>
            <a:endParaRPr lang="en-US" sz="1200" u="sng" dirty="0"/>
          </a:p>
        </p:txBody>
      </p:sp>
      <p:sp>
        <p:nvSpPr>
          <p:cNvPr id="23" name="Shape 18"/>
          <p:cNvSpPr/>
          <p:nvPr/>
        </p:nvSpPr>
        <p:spPr>
          <a:xfrm>
            <a:off x="7296912" y="2103120"/>
            <a:ext cx="2103120" cy="3749040"/>
          </a:xfrm>
          <a:prstGeom prst="roundRect">
            <a:avLst>
              <a:gd name="adj" fmla="val 347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sp>
        <p:nvSpPr>
          <p:cNvPr id="24" name="Shape 19"/>
          <p:cNvSpPr/>
          <p:nvPr/>
        </p:nvSpPr>
        <p:spPr>
          <a:xfrm>
            <a:off x="7296912" y="2103120"/>
            <a:ext cx="2103120" cy="64008"/>
          </a:xfrm>
          <a:prstGeom prst="rect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it-IT" u="sng"/>
          </a:p>
        </p:txBody>
      </p:sp>
      <p:sp>
        <p:nvSpPr>
          <p:cNvPr id="25" name="Shape 20"/>
          <p:cNvSpPr/>
          <p:nvPr/>
        </p:nvSpPr>
        <p:spPr>
          <a:xfrm>
            <a:off x="8055864" y="2377440"/>
            <a:ext cx="585216" cy="585216"/>
          </a:xfrm>
          <a:prstGeom prst="ellipse">
            <a:avLst/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pic>
        <p:nvPicPr>
          <p:cNvPr id="26" name="Image 3" descr="icons/fingerprin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251460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88352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</a:t>
            </a:r>
            <a:endParaRPr lang="en-US" sz="1400" u="sng" dirty="0"/>
          </a:p>
        </p:txBody>
      </p:sp>
      <p:sp>
        <p:nvSpPr>
          <p:cNvPr id="28" name="Text 22"/>
          <p:cNvSpPr/>
          <p:nvPr/>
        </p:nvSpPr>
        <p:spPr>
          <a:xfrm>
            <a:off x="7434072" y="36576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u="sng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passwordless con verifica di presenza fisica.</a:t>
            </a:r>
            <a:endParaRPr lang="en-US" sz="1200" u="sng" dirty="0"/>
          </a:p>
        </p:txBody>
      </p:sp>
      <p:sp>
        <p:nvSpPr>
          <p:cNvPr id="29" name="Shape 23"/>
          <p:cNvSpPr/>
          <p:nvPr/>
        </p:nvSpPr>
        <p:spPr>
          <a:xfrm>
            <a:off x="9546336" y="2103120"/>
            <a:ext cx="2103120" cy="3749040"/>
          </a:xfrm>
          <a:prstGeom prst="roundRect">
            <a:avLst>
              <a:gd name="adj" fmla="val 3478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sp>
        <p:nvSpPr>
          <p:cNvPr id="30" name="Shape 24"/>
          <p:cNvSpPr/>
          <p:nvPr/>
        </p:nvSpPr>
        <p:spPr>
          <a:xfrm>
            <a:off x="9546336" y="2103120"/>
            <a:ext cx="2103120" cy="64008"/>
          </a:xfrm>
          <a:prstGeom prst="rect">
            <a:avLst/>
          </a:prstGeom>
          <a:solidFill>
            <a:srgbClr val="F0A23B"/>
          </a:solidFill>
          <a:ln/>
        </p:spPr>
        <p:txBody>
          <a:bodyPr/>
          <a:lstStyle/>
          <a:p>
            <a:endParaRPr lang="it-IT" u="sng"/>
          </a:p>
        </p:txBody>
      </p:sp>
      <p:sp>
        <p:nvSpPr>
          <p:cNvPr id="31" name="Shape 25"/>
          <p:cNvSpPr/>
          <p:nvPr/>
        </p:nvSpPr>
        <p:spPr>
          <a:xfrm>
            <a:off x="10305288" y="2377440"/>
            <a:ext cx="585216" cy="585216"/>
          </a:xfrm>
          <a:prstGeom prst="ellipse">
            <a:avLst/>
          </a:prstGeom>
          <a:solidFill>
            <a:srgbClr val="FDF2E3"/>
          </a:solidFill>
          <a:ln w="12700">
            <a:solidFill>
              <a:srgbClr val="F0A23B"/>
            </a:solidFill>
            <a:prstDash val="solid"/>
          </a:ln>
        </p:spPr>
        <p:txBody>
          <a:bodyPr/>
          <a:lstStyle/>
          <a:p>
            <a:endParaRPr lang="it-IT" u="sng"/>
          </a:p>
        </p:txBody>
      </p:sp>
      <p:pic>
        <p:nvPicPr>
          <p:cNvPr id="32" name="Image 4" descr="icons/network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48" y="2514600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37776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Tree</a:t>
            </a:r>
            <a:endParaRPr lang="en-US" sz="1400" u="sng" dirty="0"/>
          </a:p>
        </p:txBody>
      </p:sp>
      <p:sp>
        <p:nvSpPr>
          <p:cNvPr id="34" name="Text 27"/>
          <p:cNvSpPr/>
          <p:nvPr/>
        </p:nvSpPr>
        <p:spPr>
          <a:xfrm>
            <a:off x="9683496" y="36576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u="sng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Verificabilità individuale e universale in O(log n).</a:t>
            </a:r>
            <a:endParaRPr lang="en-US" sz="1200" u="sn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 – PROTOCOLLO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della Scheda Cifrata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l'elettore invia all'Urna, cifrato con RSA-OAEP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D8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2852928"/>
            <a:ext cx="1691640" cy="0"/>
          </a:xfrm>
          <a:prstGeom prst="line">
            <a:avLst/>
          </a:prstGeom>
          <a:noFill/>
          <a:ln w="9525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cifrato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35204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Illeggibile fino allo scrutinio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A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token_id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840480" y="2852928"/>
            <a:ext cx="1691640" cy="0"/>
          </a:xfrm>
          <a:prstGeom prst="line">
            <a:avLst/>
          </a:prstGeom>
          <a:noFill/>
          <a:ln w="9525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52044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 anonima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7872" y="35204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Slegata dall'identità reale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B6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σtoken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29400" y="2852928"/>
            <a:ext cx="1691640" cy="0"/>
          </a:xfrm>
          <a:prstGeom prst="line">
            <a:avLst/>
          </a:prstGeom>
          <a:noFill/>
          <a:ln w="9525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crittografica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35204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da abilitazione valida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09828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60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nonce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418320" y="2852928"/>
            <a:ext cx="1691640" cy="0"/>
          </a:xfrm>
          <a:prstGeom prst="line">
            <a:avLst/>
          </a:prstGeom>
          <a:noFill/>
          <a:ln w="9525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09828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Anti-replay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25712" y="35204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Impedisce il reinvio di schede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id_scheda = H(token_id ∥ cv ∥ nonce) → foglia del Merkle Tree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 – FASI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7 Fasi del Sistema di Voto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78992" y="1965960"/>
            <a:ext cx="475488" cy="475488"/>
          </a:xfrm>
          <a:prstGeom prst="ellipse">
            <a:avLst/>
          </a:prstGeom>
          <a:solidFill>
            <a:srgbClr val="3D8B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78992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72768" y="2203704"/>
            <a:ext cx="1143000" cy="0"/>
          </a:xfrm>
          <a:prstGeom prst="line">
            <a:avLst/>
          </a:prstGeom>
          <a:noFill/>
          <a:ln w="190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2642616"/>
            <a:ext cx="1536192" cy="3200400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21792" y="275234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3533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firma i parametri; AE genera le chiavi di cifratura.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34056" y="1965960"/>
            <a:ext cx="475488" cy="475488"/>
          </a:xfrm>
          <a:prstGeom prst="ellipse">
            <a:avLst/>
          </a:prstGeom>
          <a:solidFill>
            <a:srgbClr val="3D8B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734056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27832" y="2203704"/>
            <a:ext cx="1143000" cy="0"/>
          </a:xfrm>
          <a:prstGeom prst="line">
            <a:avLst/>
          </a:prstGeom>
          <a:noFill/>
          <a:ln w="190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203704" y="2642616"/>
            <a:ext cx="1536192" cy="3200400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276856" y="275234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95144" y="3291840"/>
            <a:ext cx="13533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SA verifica l'identità via FIDO2.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965960"/>
            <a:ext cx="475488" cy="475488"/>
          </a:xfrm>
          <a:prstGeom prst="ellipse">
            <a:avLst/>
          </a:prstGeom>
          <a:solidFill>
            <a:srgbClr val="2BA89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38912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882896" y="2203704"/>
            <a:ext cx="1143000" cy="0"/>
          </a:xfrm>
          <a:prstGeom prst="line">
            <a:avLst/>
          </a:prstGeom>
          <a:noFill/>
          <a:ln w="190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858768" y="2642616"/>
            <a:ext cx="1536192" cy="3200400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931920" y="275234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Abilitazione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50208" y="3291840"/>
            <a:ext cx="13533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L'AE rilascia il token anonimo firmato.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44184" y="1965960"/>
            <a:ext cx="475488" cy="475488"/>
          </a:xfrm>
          <a:prstGeom prst="ellipse">
            <a:avLst/>
          </a:prstGeom>
          <a:solidFill>
            <a:srgbClr val="2BA89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044184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37960" y="2203704"/>
            <a:ext cx="1143000" cy="0"/>
          </a:xfrm>
          <a:prstGeom prst="line">
            <a:avLst/>
          </a:prstGeom>
          <a:noFill/>
          <a:ln w="190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5513832" y="2642616"/>
            <a:ext cx="1536192" cy="3200400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586984" y="275234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05272" y="3291840"/>
            <a:ext cx="13533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L'elettore cifra il voto e calcola l'ID scheda.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99248" y="1965960"/>
            <a:ext cx="475488" cy="475488"/>
          </a:xfrm>
          <a:prstGeom prst="ellipse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7699248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193024" y="2203704"/>
            <a:ext cx="1143000" cy="0"/>
          </a:xfrm>
          <a:prstGeom prst="line">
            <a:avLst/>
          </a:prstGeom>
          <a:noFill/>
          <a:ln w="190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7168896" y="2642616"/>
            <a:ext cx="1536192" cy="3200400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242048" y="275234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Trasmissione</a:t>
            </a:r>
            <a:r>
              <a:rPr lang="en-US" sz="1400" b="1" dirty="0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b="1" dirty="0" err="1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60336" y="3291840"/>
            <a:ext cx="13533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L'UE valida e registra; rilascia ricevuta.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54312" y="1965960"/>
            <a:ext cx="475488" cy="475488"/>
          </a:xfrm>
          <a:prstGeom prst="ellipse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9354312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9848088" y="2203704"/>
            <a:ext cx="1143000" cy="0"/>
          </a:xfrm>
          <a:prstGeom prst="line">
            <a:avLst/>
          </a:prstGeom>
          <a:noFill/>
          <a:ln w="190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8823960" y="2642616"/>
            <a:ext cx="1536192" cy="3200400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8897112" y="275234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915400" y="3291840"/>
            <a:ext cx="13533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L'UE decifra, costruisce il Merkle Tree.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009376" y="1965960"/>
            <a:ext cx="475488" cy="475488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11009376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10479024" y="2642616"/>
            <a:ext cx="1536192" cy="3200400"/>
          </a:xfrm>
          <a:prstGeom prst="roundRect">
            <a:avLst>
              <a:gd name="adj" fmla="val 4167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0552176" y="2752344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570464" y="3291840"/>
            <a:ext cx="13533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individuale e universale del risultato.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 – VERIFICABILITÀ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Verificabilità tramite Merkle Tree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Inclusione individuale in tempo O(log 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57400" y="2103120"/>
            <a:ext cx="1920240" cy="502920"/>
          </a:xfrm>
          <a:prstGeom prst="roundRect">
            <a:avLst>
              <a:gd name="adj" fmla="val 12727"/>
            </a:avLst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05740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 (firmata)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417320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flipH="1">
            <a:off x="2048256" y="2606040"/>
            <a:ext cx="969264" cy="445296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703320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03320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2606040"/>
            <a:ext cx="1344168" cy="45720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E860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H="1">
            <a:off x="1143000" y="3520440"/>
            <a:ext cx="768096" cy="45720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240280" y="397764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240280" y="3977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20238" y="3520440"/>
            <a:ext cx="685802" cy="45720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063240" y="397764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063240" y="3977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3428997" y="3520440"/>
            <a:ext cx="768099" cy="45720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480560" y="397764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480560" y="3977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97097" y="3520440"/>
            <a:ext cx="649223" cy="45720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731520" y="4709160"/>
            <a:ext cx="146304" cy="146304"/>
          </a:xfrm>
          <a:prstGeom prst="ellipse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95528" y="46542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Radice firmata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48256" y="4709160"/>
            <a:ext cx="146304" cy="146304"/>
          </a:xfrm>
          <a:prstGeom prst="ellipse">
            <a:avLst/>
          </a:prstGeom>
          <a:solidFill>
            <a:srgbClr val="3D8B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120546" y="466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intermedi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09505" y="4721064"/>
            <a:ext cx="146304" cy="14630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482657" y="466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Foglia dell'elettore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7675" y="4727448"/>
            <a:ext cx="146304" cy="146304"/>
          </a:xfrm>
          <a:prstGeom prst="ellipse">
            <a:avLst/>
          </a:prstGeom>
          <a:solidFill>
            <a:srgbClr val="2BA89B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33" name="Text 31"/>
          <p:cNvSpPr/>
          <p:nvPr/>
        </p:nvSpPr>
        <p:spPr>
          <a:xfrm>
            <a:off x="4880827" y="46725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 foglie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2011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verifica l'elettore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2651760"/>
            <a:ext cx="402336" cy="402336"/>
          </a:xfrm>
          <a:prstGeom prst="ellipse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400800" y="2651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2606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la propria foglia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0" y="3383280"/>
            <a:ext cx="402336" cy="402336"/>
          </a:xfrm>
          <a:prstGeom prst="ellipse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6400800" y="3383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49440" y="3337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la Merkle Proof all'UE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0" y="4114800"/>
            <a:ext cx="402336" cy="402336"/>
          </a:xfrm>
          <a:prstGeom prst="ellipse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400800" y="4114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069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Ricalcola la radice in O(log n)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0" y="4846320"/>
            <a:ext cx="402336" cy="402336"/>
          </a:xfrm>
          <a:prstGeom prst="ellipse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40080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49440" y="48006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 con la radice pubblicata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 – ANALISI SICUREZZA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Proprietà di Sicurezza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384048"/>
          </a:xfrm>
          <a:prstGeom prst="rect">
            <a:avLst/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0" y="201168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principale dichiarato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1064240" cy="512064"/>
          </a:xfrm>
          <a:prstGeom prst="rect">
            <a:avLst/>
          </a:prstGeom>
          <a:solidFill>
            <a:srgbClr val="F7F9FD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icons/checkDou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5117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39572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Autenticità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0" y="2395728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disonesto può attestare identità false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907792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1" descr="icons/checkDou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90779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Legittimità al voto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0" y="2907792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disonesta può emettere token fittizi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419856"/>
            <a:ext cx="11064240" cy="512064"/>
          </a:xfrm>
          <a:prstGeom prst="rect">
            <a:avLst/>
          </a:prstGeom>
          <a:solidFill>
            <a:srgbClr val="F7F9FD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icons/checkDou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7530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41985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Unicità del voto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0" y="3419856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può emettere token multipli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3" descr="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93192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Integrità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0" y="3931920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può alterare voti in decifratura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443984"/>
            <a:ext cx="11064240" cy="512064"/>
          </a:xfrm>
          <a:prstGeom prst="rect">
            <a:avLst/>
          </a:prstGeom>
          <a:solidFill>
            <a:srgbClr val="F7F9FD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4" descr="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9943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444398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Pseudoanonimato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0" y="4443984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Violato solo in collusione AE+UE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4956048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5" descr="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11496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97280" y="495604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Verificabilità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572000" y="4956048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Limitata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causa della non </a:t>
            </a:r>
            <a:r>
              <a:rPr lang="en-US" sz="1400" dirty="0" err="1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Kpriv_cifr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548640" y="5468112"/>
            <a:ext cx="11064240" cy="512064"/>
          </a:xfrm>
          <a:prstGeom prst="rect">
            <a:avLst/>
          </a:prstGeom>
          <a:solidFill>
            <a:srgbClr val="F7F9FD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33" name="Image 6" descr="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23560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97280" y="546811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Resistenza coercizione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572000" y="5468112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Elettore può mostrare schermo al coercitore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446003" y="5879592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7" descr="icons/warning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135624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97280" y="598017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Disponibilità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4572000" y="5980176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DoS/DDoS richiede mitigazione infrastrutturale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 – IMPLEMENTAZIONE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e Prestazioni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Python</a:t>
            </a:r>
            <a:endParaRPr lang="en-US" sz="1400" dirty="0"/>
          </a:p>
        </p:txBody>
      </p:sp>
      <p:pic>
        <p:nvPicPr>
          <p:cNvPr id="6" name="Image 0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9572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377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crypto.py  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RSA-OAEP, RSA-PSS, SHA-256</a:t>
            </a:r>
            <a:endParaRPr lang="en-US" sz="1400" dirty="0"/>
          </a:p>
        </p:txBody>
      </p:sp>
      <p:pic>
        <p:nvPicPr>
          <p:cNvPr id="8" name="Image 1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292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28346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CertificationAuthority.py  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 X.509</a:t>
            </a:r>
            <a:endParaRPr lang="en-US" sz="1400" dirty="0"/>
          </a:p>
        </p:txBody>
      </p:sp>
      <p:pic>
        <p:nvPicPr>
          <p:cNvPr id="10" name="Image 2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" y="3291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AuthenticationSystem.py  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simulato</a:t>
            </a:r>
            <a:endParaRPr lang="en-US" sz="1400" dirty="0"/>
          </a:p>
        </p:txBody>
      </p:sp>
      <p:pic>
        <p:nvPicPr>
          <p:cNvPr id="12" name="Image 3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6732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248" y="37490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ElectionAuthority.py  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elettorato e token</a:t>
            </a:r>
            <a:endParaRPr lang="en-US" sz="1400" dirty="0"/>
          </a:p>
        </p:txBody>
      </p:sp>
      <p:pic>
        <p:nvPicPr>
          <p:cNvPr id="14" name="Image 4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2452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41248" y="4206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ElectronicBallotBox.py  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scrutinio, Merkle Tree</a:t>
            </a:r>
            <a:endParaRPr lang="en-US" sz="1400" dirty="0"/>
          </a:p>
        </p:txBody>
      </p:sp>
      <p:pic>
        <p:nvPicPr>
          <p:cNvPr id="16" name="Image 5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8172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41248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attacks.py  </a:t>
            </a: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scenari di attacco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6263640" y="19202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Prestazioni (RSA 2048 bit)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6263640" y="2377440"/>
            <a:ext cx="2587752" cy="960120"/>
          </a:xfrm>
          <a:prstGeom prst="roundRect">
            <a:avLst>
              <a:gd name="adj" fmla="val 6667"/>
            </a:avLst>
          </a:prstGeom>
          <a:solidFill>
            <a:srgbClr val="3D8B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2"/>
          <p:cNvSpPr/>
          <p:nvPr/>
        </p:nvSpPr>
        <p:spPr>
          <a:xfrm>
            <a:off x="6373368" y="246888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ms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6373368" y="2852928"/>
            <a:ext cx="2368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chiavi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9015984" y="2377440"/>
            <a:ext cx="2587752" cy="960120"/>
          </a:xfrm>
          <a:prstGeom prst="roundRect">
            <a:avLst>
              <a:gd name="adj" fmla="val 6667"/>
            </a:avLst>
          </a:prstGeom>
          <a:solidFill>
            <a:srgbClr val="2BA89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5"/>
          <p:cNvSpPr/>
          <p:nvPr/>
        </p:nvSpPr>
        <p:spPr>
          <a:xfrm>
            <a:off x="9125712" y="246888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ms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9125712" y="2852928"/>
            <a:ext cx="2368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/ elettore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263640" y="3502152"/>
            <a:ext cx="2587752" cy="960120"/>
          </a:xfrm>
          <a:prstGeom prst="roundRect">
            <a:avLst>
              <a:gd name="adj" fmla="val 6667"/>
            </a:avLst>
          </a:prstGeom>
          <a:solidFill>
            <a:srgbClr val="7B68C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18"/>
          <p:cNvSpPr/>
          <p:nvPr/>
        </p:nvSpPr>
        <p:spPr>
          <a:xfrm>
            <a:off x="6373368" y="3593592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594 ms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6373368" y="3977640"/>
            <a:ext cx="2368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Scrutinio (n=1000)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9015984" y="3502152"/>
            <a:ext cx="2587752" cy="960120"/>
          </a:xfrm>
          <a:prstGeom prst="roundRect">
            <a:avLst>
              <a:gd name="adj" fmla="val 6667"/>
            </a:avLst>
          </a:prstGeom>
          <a:solidFill>
            <a:srgbClr val="E8604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1"/>
          <p:cNvSpPr/>
          <p:nvPr/>
        </p:nvSpPr>
        <p:spPr>
          <a:xfrm>
            <a:off x="9125712" y="3593592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 ms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9125712" y="3977640"/>
            <a:ext cx="2368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Proof (n=10k)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4"/>
          <p:cNvSpPr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 lineare nel voto, O(n) nello scrutinio. Collo di bottiglia: Fase 5, centralizzata sull'UE.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 – PRESTAZIONI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delle Primitive Crittografiche</a:t>
            </a:r>
            <a:endParaRPr lang="en-US" sz="27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880506003"/>
              </p:ext>
            </p:extLst>
          </p:nvPr>
        </p:nvGraphicFramePr>
        <p:xfrm>
          <a:off x="640080" y="182880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18120" y="2286000"/>
            <a:ext cx="3840480" cy="621792"/>
          </a:xfrm>
          <a:prstGeom prst="roundRect">
            <a:avLst>
              <a:gd name="adj" fmla="val 10294"/>
            </a:avLst>
          </a:prstGeom>
          <a:solidFill>
            <a:srgbClr val="F7F9FD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001000" y="228600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0" y="22860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</a:t>
            </a:r>
            <a:r>
              <a:rPr lang="en-US" sz="1400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lo </a:t>
            </a:r>
            <a:r>
              <a:rPr lang="en-US" sz="1400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18120" y="3063240"/>
            <a:ext cx="3840480" cy="621792"/>
          </a:xfrm>
          <a:prstGeom prst="roundRect">
            <a:avLst>
              <a:gd name="adj" fmla="val 10294"/>
            </a:avLst>
          </a:prstGeom>
          <a:solidFill>
            <a:srgbClr val="F7F9FD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001000" y="306324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0" y="30632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</a:t>
            </a:r>
            <a:r>
              <a:rPr lang="en-US" sz="1400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lo </a:t>
            </a:r>
            <a:r>
              <a:rPr lang="en-US" sz="1400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18120" y="3840480"/>
            <a:ext cx="3840480" cy="621792"/>
          </a:xfrm>
          <a:prstGeom prst="roundRect">
            <a:avLst>
              <a:gd name="adj" fmla="val 10294"/>
            </a:avLst>
          </a:prstGeom>
          <a:solidFill>
            <a:srgbClr val="F7F9FD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8001000" y="384048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1.000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0" y="38404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594 </a:t>
            </a:r>
            <a:r>
              <a:rPr lang="en-US" sz="1400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400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lo </a:t>
            </a:r>
            <a:r>
              <a:rPr lang="en-US" sz="1400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18120" y="4846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per elettore costante (~14 ms) indipendentemente da 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 – PRESTAZIONI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dei Messaggi Scambiati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per messaggio, misurati su un'elezione con tre candidati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245544493"/>
              </p:ext>
            </p:extLst>
          </p:nvPr>
        </p:nvGraphicFramePr>
        <p:xfrm>
          <a:off x="640080" y="182880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81812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18120" y="2286000"/>
            <a:ext cx="3840480" cy="96012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80010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Kpriv_cifr cifrata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2697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2342 B — il messaggio più pesante, trasmesso una sola volta a fine voto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18120" y="3429000"/>
            <a:ext cx="3840480" cy="96012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8001000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di voto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01000" y="3840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1042 B — voto, token, firma e nonce in un solo payload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18120" y="4572000"/>
            <a:ext cx="3840480" cy="96012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80010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Ricevuta e σauth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01000" y="4983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 — viaggiano in chiaro, nessun dato sensibile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DEDEA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 – ATTACCHI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degli Attacchi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" y="284835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 scenari simulati in attacks.py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8F7F4"/>
          </a:solidFill>
          <a:ln w="1651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pic>
        <p:nvPicPr>
          <p:cNvPr id="7" name="Image 0" descr="icons/checkDou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176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278892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già visto → scartata.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25112" y="2011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8F7F4"/>
          </a:solidFill>
          <a:ln w="1651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pic>
        <p:nvPicPr>
          <p:cNvPr id="11" name="Image 1" descr="icons/checkDou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194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19472" y="2176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auto-generato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78892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invalida → rigettata.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1584" y="20116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8F7F4"/>
          </a:solidFill>
          <a:ln w="1651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icons/checkDou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1945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95944" y="2176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Certificato contraffatto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02752" y="278892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pkCA fallisce.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867912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8F7F4"/>
          </a:solidFill>
          <a:ln w="1651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pic>
        <p:nvPicPr>
          <p:cNvPr id="19" name="Image 3" descr="icons/checkDou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5079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40325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in transito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49808" y="464515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corrotto → fallisce.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325112" y="3867912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DF2E3"/>
          </a:solidFill>
          <a:ln w="16510">
            <a:solidFill>
              <a:srgbClr val="F0A23B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pic>
        <p:nvPicPr>
          <p:cNvPr id="23" name="Image 4" descr="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05079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19472" y="40325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Doppia abilitazione (AE)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526280" y="464515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Rilevabile a posteriori.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8101584" y="3867912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DF2E3"/>
          </a:solidFill>
          <a:ln w="16510">
            <a:solidFill>
              <a:srgbClr val="F0A2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5" descr="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405079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695944" y="40325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Collusione AE + UE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8302752" y="4645152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blind signature o ZKP.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10896"/>
          </a:xfrm>
          <a:prstGeom prst="roundRect">
            <a:avLst>
              <a:gd name="adj" fmla="val 117647"/>
            </a:avLst>
          </a:prstGeom>
          <a:solidFill>
            <a:srgbClr val="FDF2E3"/>
          </a:solidFill>
          <a:ln w="12700">
            <a:solidFill>
              <a:srgbClr val="F0A23B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Evoluzioni</a:t>
            </a:r>
            <a:r>
              <a:rPr lang="en-US" sz="3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0A23B"/>
          </a:solidFill>
          <a:ln/>
        </p:spPr>
        <p:txBody>
          <a:bodyPr/>
          <a:lstStyle/>
          <a:p>
            <a:endParaRPr lang="it-IT" sz="140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elevata per un'elezione aziendale interna, con compromessi espliciti e accettabili.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EAF2FC"/>
          </a:solidFill>
          <a:ln w="12700">
            <a:solidFill>
              <a:srgbClr val="3D8BD9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pic>
        <p:nvPicPr>
          <p:cNvPr id="9" name="Image 0" descr="icons/search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09067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365760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420624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la decifratura senza rivelare i voti.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25112" y="27432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13" name="Shape 10"/>
          <p:cNvSpPr/>
          <p:nvPr/>
        </p:nvSpPr>
        <p:spPr>
          <a:xfrm>
            <a:off x="4553712" y="2971800"/>
            <a:ext cx="502920" cy="502920"/>
          </a:xfrm>
          <a:prstGeom prst="ellipse">
            <a:avLst/>
          </a:prstGeom>
          <a:solidFill>
            <a:srgbClr val="E8F7F4"/>
          </a:solidFill>
          <a:ln w="12700">
            <a:solidFill>
              <a:srgbClr val="2BA89B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pic>
        <p:nvPicPr>
          <p:cNvPr id="14" name="Image 1" descr="icons/fingerprin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309067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65760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Signature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420624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il rischio di collusione AE+UE.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01584" y="27432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7F9FD"/>
          </a:solidFill>
          <a:ln w="12700">
            <a:solidFill>
              <a:srgbClr val="E7ECF5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18" name="Shape 14"/>
          <p:cNvSpPr/>
          <p:nvPr/>
        </p:nvSpPr>
        <p:spPr>
          <a:xfrm>
            <a:off x="8330184" y="2971800"/>
            <a:ext cx="502920" cy="502920"/>
          </a:xfrm>
          <a:prstGeom prst="ellipse">
            <a:avLst/>
          </a:prstGeom>
          <a:solidFill>
            <a:srgbClr val="F1EEFB"/>
          </a:solidFill>
          <a:ln w="12700">
            <a:solidFill>
              <a:srgbClr val="7B68C4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pic>
        <p:nvPicPr>
          <p:cNvPr id="19" name="Image 2" descr="icons/cogs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309067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365760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Crittografia Omomorfica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02752" y="420624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Scrutinio diretto sui ciphertext.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EAF2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241280" y="4114800"/>
            <a:ext cx="4114800" cy="4114800"/>
          </a:xfrm>
          <a:prstGeom prst="ellipse">
            <a:avLst/>
          </a:prstGeom>
          <a:solidFill>
            <a:srgbClr val="FDEDE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0789920" y="-1097280"/>
            <a:ext cx="2011680" cy="2011680"/>
          </a:xfrm>
          <a:prstGeom prst="ellipse">
            <a:avLst/>
          </a:prstGeom>
          <a:solidFill>
            <a:srgbClr val="FDF2E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194560" y="2331720"/>
            <a:ext cx="7772400" cy="2286000"/>
          </a:xfrm>
          <a:prstGeom prst="roundRect">
            <a:avLst>
              <a:gd name="adj" fmla="val 3600"/>
            </a:avLst>
          </a:prstGeom>
          <a:solidFill>
            <a:srgbClr val="3D8BD9"/>
          </a:solidFill>
          <a:ln/>
          <a:effectLst>
            <a:outerShdw blurRad="101600" dist="38100" dir="2700000" algn="bl" rotWithShape="0">
              <a:srgbClr val="1B2A52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194560" y="3154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per l'attenzione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Francesco Musto  ·  Annamaria Scermino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e Protocolli per la Sicurezza — Università degli Studi di Salerno — a.a. 2025-2026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1143</Words>
  <Application>Microsoft Office PowerPoint</Application>
  <PresentationFormat>Widescreen</PresentationFormat>
  <Paragraphs>264</Paragraphs>
  <Slides>17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Implementazione di un Protocollo Sicuro per Elezioni Elettroniche</dc:title>
  <dc:subject>PptxGenJS Presentation</dc:subject>
  <dc:creator>Musto Francesco, Scermino Annamaria</dc:creator>
  <cp:lastModifiedBy>ANNAMARIA SCERMINO</cp:lastModifiedBy>
  <cp:revision>7</cp:revision>
  <dcterms:created xsi:type="dcterms:W3CDTF">2026-06-22T19:45:58Z</dcterms:created>
  <dcterms:modified xsi:type="dcterms:W3CDTF">2026-06-23T15:53:15Z</dcterms:modified>
</cp:coreProperties>
</file>